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9" r:id="rId15"/>
    <p:sldId id="276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ячеслав Луканкин" initials="ВЛ" lastIdx="1" clrIdx="0">
    <p:extLst>
      <p:ext uri="{19B8F6BF-5375-455C-9EA6-DF929625EA0E}">
        <p15:presenceInfo xmlns:p15="http://schemas.microsoft.com/office/powerpoint/2012/main" userId="6f027be5df5f3e5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131" autoAdjust="0"/>
    <p:restoredTop sz="94660"/>
  </p:normalViewPr>
  <p:slideViewPr>
    <p:cSldViewPr snapToGrid="0">
      <p:cViewPr varScale="1">
        <p:scale>
          <a:sx n="85" d="100"/>
          <a:sy n="85" d="100"/>
        </p:scale>
        <p:origin x="1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12T10:47:58.112" idx="1">
    <p:pos x="2324" y="872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40AD2-A484-41DE-BC06-FF4325DD9370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8A1DE-1B09-4630-AD73-E75276FD1E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3821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58A63-ABBF-475F-8942-5346544E5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7A071A9-1EAA-419C-ADE0-554177705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9A5306-0BE0-4F25-9D1F-3E418A731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BC9E1-008F-428F-8A9F-3C944305E04A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19166B-51E3-4BAB-AE8A-920E54BC3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C8733A-FC1E-474E-9D39-9159D963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533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7BE857-308E-4CEA-AF5F-99C9CB661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556B8A-6F38-4DFC-8B2F-24A567E29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6FEE21-AFF9-482F-A8E4-44272C9A9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DC786-1C11-44A5-841D-7669A0A8111E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25EF61-9185-4FFE-A986-D95DE645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571ACD-3238-4E36-8113-488E09F8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970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896BA-5C88-4C07-B3D7-2044241D8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02A988-7CBA-4944-8381-F24605563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F29DF6-955D-41E9-A057-474D62E1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C6E36-1A35-4E09-9B75-6CCD6BD873F9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944680-DDC4-4817-A45E-901E9549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DBD49C-C91F-4C13-B31C-274F8DF34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784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FDB464-A9AB-402B-891A-22A2FC783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0F1E28-D346-453B-B7D6-F02B0819A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C014FE-AF55-4BA6-9CDE-A838B29B3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64BCED-6D25-4BEA-AB51-E62ABDD5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2A5CE-209B-41EE-850D-02E0F3A9AE55}" type="datetime1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D33B8F-1A69-4569-9038-04B546406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672E17-65F2-4C25-8099-28056667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903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B15E0-82BF-4444-BB89-85283A661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0EF1FB-AC4A-4E74-9A38-78AFCEED3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7EFEDF-D487-4B5E-AF66-6F339BEF8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6B51D8E-55F8-4662-A140-50A747E9E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794CF7-571A-4107-980E-667448295A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97E7D1-D709-442F-8019-1CCF9740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6D0FA-9E98-4D44-932C-E76CCAE0F896}" type="datetime1">
              <a:rPr lang="ru-RU" smtClean="0"/>
              <a:t>26.02.2026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0F53CF0-BDCD-4D90-A65E-D428622E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481C43-B42A-459A-B056-42E1BBCC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281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87B466-CA56-4410-8E76-042EA4CDB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E028F0B-387D-4317-96A7-04617F41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BD9CF-0E86-4ACD-94E5-1BFFB7E28F09}" type="datetime1">
              <a:rPr lang="ru-RU" smtClean="0"/>
              <a:t>26.02.2026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86C09C-6D0F-49A1-BFC9-E4E81845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16AA7C5-B8FE-47C0-B86D-6AF5E45D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672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D7ED060-5746-4E21-9146-5C5202E5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5F5D0-687B-406B-BBAE-3FDF0FECB765}" type="datetime1">
              <a:rPr lang="ru-RU" smtClean="0"/>
              <a:t>26.02.2026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D8C9ADF-04F3-447D-B29A-4A0251B69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98F01F-FCEA-446F-8020-AE631A8A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939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FE121-6D9A-4149-9294-84C115085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AD605C-6F54-45CC-A127-C7BF96228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4760B6-B5F9-462B-9742-03D50D957A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FF12AA-AF02-4151-8CD5-4AE0ABA15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95B94-352E-4AA3-92DB-00F08D14BC6C}" type="datetime1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53B46D-34D0-4704-859E-985A14326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748175-163B-42F9-BAC6-7911DEA34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36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D9FED-E67C-4EBE-8FEF-2CFB95B2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DE4B39-165C-41F1-B516-2DBA0126F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7E89E5-A1BA-4141-BB60-8521E014A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CBB5F8-2406-4A46-A4E9-EF7080F1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BDE8-BE82-4DF7-A85D-5BBEADE769DD}" type="datetime1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A51798-84DC-4B33-958D-140F10BC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03646F-AE6D-4254-B690-5B693C69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21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CF9CB-E5B9-49EE-A410-EC9ED71B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4DB5C6-DC03-4477-85F9-6433D887C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684CCB-C517-47BE-BB26-15BD4039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A8609-FCE7-4971-8D4D-0A5E9E815CBF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D6CD1B-4233-4941-A2BA-8870DF12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87A19F-F4A9-4BCA-937F-8B73AEBC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490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EF9B79-FE79-443E-B993-FEC3722F9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7F2FEEB-D4BE-47FF-AD52-5FB6BB935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C00FB2-4BDB-4C0B-8FC1-E08147ED8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72F98-8DBD-400C-B251-C733B32AF5D0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CC2382-E973-44F4-AD00-C9DFB90B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F8DED7-04D7-46BD-A0C4-70E38AF3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235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6AC2E-B3EA-4BF3-94D4-81EB6E89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272F78-F218-4D49-8772-19BABE8F7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9AF030-432C-4C96-9178-27AF307FEE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C1102-B0A2-4BF1-9A31-5AE07E32093E}" type="datetime1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6E083B-B573-43DA-AD92-45E5FE3E8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965E0F-8B71-4FE9-9942-61D38CCA89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45341-AD40-4D83-930C-9F0B02CE09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039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415070-8EC7-4896-93E4-CD79ED0A84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Технология реверс-инжиниринга</a:t>
            </a:r>
            <a:b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Задание 1. Сравнение энтропии неупакованного и упакованного файлов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23117D-CE7D-427A-BCCB-F5233B6C7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89558" y="4850296"/>
            <a:ext cx="3201726" cy="1713222"/>
          </a:xfrm>
        </p:spPr>
        <p:txBody>
          <a:bodyPr>
            <a:norm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Презентацию выполнили студенты ТКИ-341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Бахров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Кирилл Сергеевич,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Луканкин Вячеслав Сергеевич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Наставники: 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Сидоренко Валентина Геннадьевна</a:t>
            </a:r>
            <a:b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Сафронов Антон Игоревич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DF111F-765A-4B25-B583-6F8F1B742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16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3F0E18-C3AF-43C2-9EF6-D27A9238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30" y="13652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исполняемых файлов</a:t>
            </a:r>
            <a:b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Конвертация проводилась с помощью онлайн компилятора: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https://www.codeconverter.com/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677A7A-00BD-4083-A7F5-33D26CE55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248584-2889-48DC-950B-782489E90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30" y="1383527"/>
            <a:ext cx="3568171" cy="49417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209D109-423F-4D56-8639-419996293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452" y="1383527"/>
            <a:ext cx="2563843" cy="494173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72B983-F8ED-4120-B0C4-B6F2CF3D3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692" y="1387775"/>
            <a:ext cx="4436686" cy="49374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5F9543-95E6-41E5-87F2-D10FFFEFE333}"/>
              </a:ext>
            </a:extLst>
          </p:cNvPr>
          <p:cNvSpPr txBox="1"/>
          <p:nvPr/>
        </p:nvSpPr>
        <p:spPr>
          <a:xfrm>
            <a:off x="121630" y="6416468"/>
            <a:ext cx="356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Текст программы на языке </a:t>
            </a:r>
            <a:r>
              <a:rPr lang="en-US" dirty="0"/>
              <a:t>C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CFABF4-246C-4799-B861-93C994582C95}"/>
              </a:ext>
            </a:extLst>
          </p:cNvPr>
          <p:cNvSpPr txBox="1"/>
          <p:nvPr/>
        </p:nvSpPr>
        <p:spPr>
          <a:xfrm>
            <a:off x="4285451" y="6277968"/>
            <a:ext cx="2563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Текст программы на языке </a:t>
            </a:r>
            <a:r>
              <a:rPr lang="en-US" dirty="0"/>
              <a:t>C#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24B6E3-930D-47C5-A971-B0C31C25F3FD}"/>
              </a:ext>
            </a:extLst>
          </p:cNvPr>
          <p:cNvSpPr txBox="1"/>
          <p:nvPr/>
        </p:nvSpPr>
        <p:spPr>
          <a:xfrm>
            <a:off x="7358692" y="6391327"/>
            <a:ext cx="3519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Текст программы на языке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4C067A-428D-43BE-871F-FB2E5838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390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65" y="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Гистограммы исполняемых файлов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энтропии производился с помощью программы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066E9EB-E909-4708-A5AC-5FB26435A4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02" y="1561807"/>
            <a:ext cx="4875941" cy="2873596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ADDE80E-42D9-4BA2-8CCE-45164F7BE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118" y="1561807"/>
            <a:ext cx="4946963" cy="29243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15263A-2C67-4E72-821C-F42C4FCB8DC9}"/>
              </a:ext>
            </a:extLst>
          </p:cNvPr>
          <p:cNvSpPr txBox="1"/>
          <p:nvPr/>
        </p:nvSpPr>
        <p:spPr>
          <a:xfrm>
            <a:off x="543702" y="4627659"/>
            <a:ext cx="4722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оригинального файла на языке 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CC16B-2482-4029-AA46-11FF6E659C7E}"/>
              </a:ext>
            </a:extLst>
          </p:cNvPr>
          <p:cNvSpPr txBox="1"/>
          <p:nvPr/>
        </p:nvSpPr>
        <p:spPr>
          <a:xfrm>
            <a:off x="6512118" y="4627659"/>
            <a:ext cx="4594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упакованного файла на языке С</a:t>
            </a:r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303E0741-F37F-4D70-829F-AD0E66943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009468"/>
              </p:ext>
            </p:extLst>
          </p:nvPr>
        </p:nvGraphicFramePr>
        <p:xfrm>
          <a:off x="195248" y="5296193"/>
          <a:ext cx="522439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198">
                  <a:extLst>
                    <a:ext uri="{9D8B030D-6E8A-4147-A177-3AD203B41FA5}">
                      <a16:colId xmlns:a16="http://schemas.microsoft.com/office/drawing/2014/main" val="2859485569"/>
                    </a:ext>
                  </a:extLst>
                </a:gridCol>
                <a:gridCol w="2612198">
                  <a:extLst>
                    <a:ext uri="{9D8B030D-6E8A-4147-A177-3AD203B41FA5}">
                      <a16:colId xmlns:a16="http://schemas.microsoft.com/office/drawing/2014/main" val="4133159327"/>
                    </a:ext>
                  </a:extLst>
                </a:gridCol>
              </a:tblGrid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392948"/>
                  </a:ext>
                </a:extLst>
              </a:tr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113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4,0072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41589"/>
                  </a:ext>
                </a:extLst>
              </a:tr>
            </a:tbl>
          </a:graphicData>
        </a:graphic>
      </p:graphicFrame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D2FB0463-FDDB-4A95-B912-E7E06909D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484835"/>
              </p:ext>
            </p:extLst>
          </p:nvPr>
        </p:nvGraphicFramePr>
        <p:xfrm>
          <a:off x="6456458" y="5295447"/>
          <a:ext cx="5627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879">
                  <a:extLst>
                    <a:ext uri="{9D8B030D-6E8A-4147-A177-3AD203B41FA5}">
                      <a16:colId xmlns:a16="http://schemas.microsoft.com/office/drawing/2014/main" val="3899487295"/>
                    </a:ext>
                  </a:extLst>
                </a:gridCol>
                <a:gridCol w="2813879">
                  <a:extLst>
                    <a:ext uri="{9D8B030D-6E8A-4147-A177-3AD203B41FA5}">
                      <a16:colId xmlns:a16="http://schemas.microsoft.com/office/drawing/2014/main" val="2961884715"/>
                    </a:ext>
                  </a:extLst>
                </a:gridCol>
              </a:tblGrid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31448"/>
                  </a:ext>
                </a:extLst>
              </a:tr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68,5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4,77345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303019"/>
                  </a:ext>
                </a:extLst>
              </a:tr>
            </a:tbl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9893A4-4EA4-4149-95BC-F6967B3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3</a:t>
            </a:fld>
            <a:endParaRPr lang="ru-RU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878568A-0F49-420F-88CC-BCC4244A53E7}"/>
              </a:ext>
            </a:extLst>
          </p:cNvPr>
          <p:cNvCxnSpPr/>
          <p:nvPr/>
        </p:nvCxnSpPr>
        <p:spPr>
          <a:xfrm>
            <a:off x="1775012" y="2393577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DBA0FED-7789-4087-BC0C-389CC6143B7A}"/>
              </a:ext>
            </a:extLst>
          </p:cNvPr>
          <p:cNvCxnSpPr/>
          <p:nvPr/>
        </p:nvCxnSpPr>
        <p:spPr>
          <a:xfrm>
            <a:off x="7790330" y="2442883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010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14" y="-158138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Гистограммы исполняемых файлов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энтропии производился с помощью программы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263A-2C67-4E72-821C-F42C4FCB8DC9}"/>
              </a:ext>
            </a:extLst>
          </p:cNvPr>
          <p:cNvSpPr txBox="1"/>
          <p:nvPr/>
        </p:nvSpPr>
        <p:spPr>
          <a:xfrm>
            <a:off x="543702" y="4627659"/>
            <a:ext cx="4838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оригинального файла на языке С</a:t>
            </a:r>
            <a:r>
              <a:rPr lang="en-US" dirty="0"/>
              <a:t>#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CC16B-2482-4029-AA46-11FF6E659C7E}"/>
              </a:ext>
            </a:extLst>
          </p:cNvPr>
          <p:cNvSpPr txBox="1"/>
          <p:nvPr/>
        </p:nvSpPr>
        <p:spPr>
          <a:xfrm>
            <a:off x="6512118" y="4627659"/>
            <a:ext cx="4710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упакованного файла на языке С</a:t>
            </a:r>
            <a:r>
              <a:rPr lang="en-US" dirty="0"/>
              <a:t>#</a:t>
            </a:r>
            <a:endParaRPr lang="ru-RU" dirty="0"/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303E0741-F37F-4D70-829F-AD0E66943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714622"/>
              </p:ext>
            </p:extLst>
          </p:nvPr>
        </p:nvGraphicFramePr>
        <p:xfrm>
          <a:off x="195248" y="5296193"/>
          <a:ext cx="522439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198">
                  <a:extLst>
                    <a:ext uri="{9D8B030D-6E8A-4147-A177-3AD203B41FA5}">
                      <a16:colId xmlns:a16="http://schemas.microsoft.com/office/drawing/2014/main" val="2859485569"/>
                    </a:ext>
                  </a:extLst>
                </a:gridCol>
                <a:gridCol w="2612198">
                  <a:extLst>
                    <a:ext uri="{9D8B030D-6E8A-4147-A177-3AD203B41FA5}">
                      <a16:colId xmlns:a16="http://schemas.microsoft.com/office/drawing/2014/main" val="4133159327"/>
                    </a:ext>
                  </a:extLst>
                </a:gridCol>
              </a:tblGrid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392948"/>
                  </a:ext>
                </a:extLst>
              </a:tr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4,00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2,63256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41589"/>
                  </a:ext>
                </a:extLst>
              </a:tr>
            </a:tbl>
          </a:graphicData>
        </a:graphic>
      </p:graphicFrame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D2FB0463-FDDB-4A95-B912-E7E06909D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102169"/>
              </p:ext>
            </p:extLst>
          </p:nvPr>
        </p:nvGraphicFramePr>
        <p:xfrm>
          <a:off x="6456458" y="5295447"/>
          <a:ext cx="5627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879">
                  <a:extLst>
                    <a:ext uri="{9D8B030D-6E8A-4147-A177-3AD203B41FA5}">
                      <a16:colId xmlns:a16="http://schemas.microsoft.com/office/drawing/2014/main" val="3899487295"/>
                    </a:ext>
                  </a:extLst>
                </a:gridCol>
                <a:gridCol w="2813879">
                  <a:extLst>
                    <a:ext uri="{9D8B030D-6E8A-4147-A177-3AD203B41FA5}">
                      <a16:colId xmlns:a16="http://schemas.microsoft.com/office/drawing/2014/main" val="2961884715"/>
                    </a:ext>
                  </a:extLst>
                </a:gridCol>
              </a:tblGrid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31448"/>
                  </a:ext>
                </a:extLst>
              </a:tr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7,07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5,12641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303019"/>
                  </a:ext>
                </a:extLst>
              </a:tr>
            </a:tbl>
          </a:graphicData>
        </a:graphic>
      </p:graphicFrame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4D5E034C-B2F2-454E-9FB5-6D04C01F15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48" y="1317026"/>
            <a:ext cx="5593627" cy="3310633"/>
          </a:xfr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E413C17-A248-4298-B0D4-41501A062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127" y="1291132"/>
            <a:ext cx="5560242" cy="3310634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5980C55-4A24-4782-B8A4-AAA574CC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4</a:t>
            </a:fld>
            <a:endParaRPr lang="ru-RU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A16832F6-CFFD-41BA-98CA-D1B73C1E1F91}"/>
              </a:ext>
            </a:extLst>
          </p:cNvPr>
          <p:cNvCxnSpPr>
            <a:cxnSpLocks/>
          </p:cNvCxnSpPr>
          <p:nvPr/>
        </p:nvCxnSpPr>
        <p:spPr>
          <a:xfrm>
            <a:off x="1552186" y="2312895"/>
            <a:ext cx="0" cy="210670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5E7AF05E-C9A7-4E53-B1D7-31BE8D78583F}"/>
              </a:ext>
            </a:extLst>
          </p:cNvPr>
          <p:cNvCxnSpPr>
            <a:cxnSpLocks/>
          </p:cNvCxnSpPr>
          <p:nvPr/>
        </p:nvCxnSpPr>
        <p:spPr>
          <a:xfrm>
            <a:off x="7781365" y="2250142"/>
            <a:ext cx="0" cy="216945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00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44" y="-155567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Гистограммы исполняемых файлов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263A-2C67-4E72-821C-F42C4FCB8DC9}"/>
              </a:ext>
            </a:extLst>
          </p:cNvPr>
          <p:cNvSpPr txBox="1"/>
          <p:nvPr/>
        </p:nvSpPr>
        <p:spPr>
          <a:xfrm>
            <a:off x="543702" y="4627659"/>
            <a:ext cx="5267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оригинального файла на языке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CC16B-2482-4029-AA46-11FF6E659C7E}"/>
              </a:ext>
            </a:extLst>
          </p:cNvPr>
          <p:cNvSpPr txBox="1"/>
          <p:nvPr/>
        </p:nvSpPr>
        <p:spPr>
          <a:xfrm>
            <a:off x="6512118" y="4627659"/>
            <a:ext cx="5138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упакованного файла на языке </a:t>
            </a:r>
            <a:r>
              <a:rPr lang="en-US" dirty="0"/>
              <a:t>Python</a:t>
            </a:r>
            <a:endParaRPr lang="ru-RU" dirty="0"/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303E0741-F37F-4D70-829F-AD0E66943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534393"/>
              </p:ext>
            </p:extLst>
          </p:nvPr>
        </p:nvGraphicFramePr>
        <p:xfrm>
          <a:off x="195248" y="5296193"/>
          <a:ext cx="522439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198">
                  <a:extLst>
                    <a:ext uri="{9D8B030D-6E8A-4147-A177-3AD203B41FA5}">
                      <a16:colId xmlns:a16="http://schemas.microsoft.com/office/drawing/2014/main" val="2859485569"/>
                    </a:ext>
                  </a:extLst>
                </a:gridCol>
                <a:gridCol w="2612198">
                  <a:extLst>
                    <a:ext uri="{9D8B030D-6E8A-4147-A177-3AD203B41FA5}">
                      <a16:colId xmlns:a16="http://schemas.microsoft.com/office/drawing/2014/main" val="4133159327"/>
                    </a:ext>
                  </a:extLst>
                </a:gridCol>
              </a:tblGrid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392948"/>
                  </a:ext>
                </a:extLst>
              </a:tr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8,82 МБ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4,58087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41589"/>
                  </a:ext>
                </a:extLst>
              </a:tr>
            </a:tbl>
          </a:graphicData>
        </a:graphic>
      </p:graphicFrame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D2FB0463-FDDB-4A95-B912-E7E06909D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154154"/>
              </p:ext>
            </p:extLst>
          </p:nvPr>
        </p:nvGraphicFramePr>
        <p:xfrm>
          <a:off x="6456458" y="5295447"/>
          <a:ext cx="5627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879">
                  <a:extLst>
                    <a:ext uri="{9D8B030D-6E8A-4147-A177-3AD203B41FA5}">
                      <a16:colId xmlns:a16="http://schemas.microsoft.com/office/drawing/2014/main" val="3899487295"/>
                    </a:ext>
                  </a:extLst>
                </a:gridCol>
                <a:gridCol w="2813879">
                  <a:extLst>
                    <a:ext uri="{9D8B030D-6E8A-4147-A177-3AD203B41FA5}">
                      <a16:colId xmlns:a16="http://schemas.microsoft.com/office/drawing/2014/main" val="2961884715"/>
                    </a:ext>
                  </a:extLst>
                </a:gridCol>
              </a:tblGrid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31448"/>
                  </a:ext>
                </a:extLst>
              </a:tr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180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7,17021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303019"/>
                  </a:ext>
                </a:extLst>
              </a:tr>
            </a:tbl>
          </a:graphicData>
        </a:graphic>
      </p:graphicFrame>
      <p:pic>
        <p:nvPicPr>
          <p:cNvPr id="6" name="Объект 5">
            <a:extLst>
              <a:ext uri="{FF2B5EF4-FFF2-40B4-BE49-F238E27FC236}">
                <a16:creationId xmlns:a16="http://schemas.microsoft.com/office/drawing/2014/main" id="{632D003D-0F84-4949-B54B-E695DF207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62" y="1334688"/>
            <a:ext cx="3865915" cy="3331836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74C0C75-CC28-4EF8-8E33-456800B51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586" y="1334688"/>
            <a:ext cx="4686152" cy="3292971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2C0E368-0AE2-4ACD-85A2-589C698F3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5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2CCDAB-2A5E-4969-922A-EFB86075164B}"/>
              </a:ext>
            </a:extLst>
          </p:cNvPr>
          <p:cNvSpPr txBox="1"/>
          <p:nvPr/>
        </p:nvSpPr>
        <p:spPr>
          <a:xfrm>
            <a:off x="331694" y="851858"/>
            <a:ext cx="6394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энтропии производился с помощью программы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ru-RU" dirty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D87D6177-2259-4D69-A42D-442BA6748876}"/>
              </a:ext>
            </a:extLst>
          </p:cNvPr>
          <p:cNvCxnSpPr/>
          <p:nvPr/>
        </p:nvCxnSpPr>
        <p:spPr>
          <a:xfrm>
            <a:off x="8014447" y="2505635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05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" y="-84411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Гистограммы аудиофайлов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263A-2C67-4E72-821C-F42C4FCB8DC9}"/>
              </a:ext>
            </a:extLst>
          </p:cNvPr>
          <p:cNvSpPr txBox="1"/>
          <p:nvPr/>
        </p:nvSpPr>
        <p:spPr>
          <a:xfrm>
            <a:off x="543702" y="4627659"/>
            <a:ext cx="4832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оригинального аудиофайла с </a:t>
            </a:r>
            <a:r>
              <a:rPr lang="en-US" dirty="0"/>
              <a:t>mp3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CC16B-2482-4029-AA46-11FF6E659C7E}"/>
              </a:ext>
            </a:extLst>
          </p:cNvPr>
          <p:cNvSpPr txBox="1"/>
          <p:nvPr/>
        </p:nvSpPr>
        <p:spPr>
          <a:xfrm>
            <a:off x="6512118" y="4627659"/>
            <a:ext cx="4756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</a:t>
            </a:r>
            <a:r>
              <a:rPr lang="en-US" dirty="0"/>
              <a:t> </a:t>
            </a:r>
            <a:r>
              <a:rPr lang="ru-RU" dirty="0"/>
              <a:t>упакованного аудиофайла с </a:t>
            </a:r>
            <a:r>
              <a:rPr lang="en-US" dirty="0"/>
              <a:t>mp3</a:t>
            </a:r>
            <a:endParaRPr lang="ru-RU" dirty="0"/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303E0741-F37F-4D70-829F-AD0E66943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593757"/>
              </p:ext>
            </p:extLst>
          </p:nvPr>
        </p:nvGraphicFramePr>
        <p:xfrm>
          <a:off x="195248" y="5296193"/>
          <a:ext cx="522439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198">
                  <a:extLst>
                    <a:ext uri="{9D8B030D-6E8A-4147-A177-3AD203B41FA5}">
                      <a16:colId xmlns:a16="http://schemas.microsoft.com/office/drawing/2014/main" val="2859485569"/>
                    </a:ext>
                  </a:extLst>
                </a:gridCol>
                <a:gridCol w="2612198">
                  <a:extLst>
                    <a:ext uri="{9D8B030D-6E8A-4147-A177-3AD203B41FA5}">
                      <a16:colId xmlns:a16="http://schemas.microsoft.com/office/drawing/2014/main" val="4133159327"/>
                    </a:ext>
                  </a:extLst>
                </a:gridCol>
              </a:tblGrid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392948"/>
                  </a:ext>
                </a:extLst>
              </a:tr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386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  <a:r>
                        <a:rPr lang="en-US" dirty="0"/>
                        <a:t>,94935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41589"/>
                  </a:ext>
                </a:extLst>
              </a:tr>
            </a:tbl>
          </a:graphicData>
        </a:graphic>
      </p:graphicFrame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D2FB0463-FDDB-4A95-B912-E7E06909D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34125"/>
              </p:ext>
            </p:extLst>
          </p:nvPr>
        </p:nvGraphicFramePr>
        <p:xfrm>
          <a:off x="6456458" y="5295447"/>
          <a:ext cx="5627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879">
                  <a:extLst>
                    <a:ext uri="{9D8B030D-6E8A-4147-A177-3AD203B41FA5}">
                      <a16:colId xmlns:a16="http://schemas.microsoft.com/office/drawing/2014/main" val="3899487295"/>
                    </a:ext>
                  </a:extLst>
                </a:gridCol>
                <a:gridCol w="2813879">
                  <a:extLst>
                    <a:ext uri="{9D8B030D-6E8A-4147-A177-3AD203B41FA5}">
                      <a16:colId xmlns:a16="http://schemas.microsoft.com/office/drawing/2014/main" val="2961884715"/>
                    </a:ext>
                  </a:extLst>
                </a:gridCol>
              </a:tblGrid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31448"/>
                  </a:ext>
                </a:extLst>
              </a:tr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385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7,998467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303019"/>
                  </a:ext>
                </a:extLst>
              </a:tr>
            </a:tbl>
          </a:graphicData>
        </a:graphic>
      </p:graphicFrame>
      <p:pic>
        <p:nvPicPr>
          <p:cNvPr id="7" name="Объект 6">
            <a:extLst>
              <a:ext uri="{FF2B5EF4-FFF2-40B4-BE49-F238E27FC236}">
                <a16:creationId xmlns:a16="http://schemas.microsoft.com/office/drawing/2014/main" id="{2C48245E-FD1D-4CEB-B378-25957D27E8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40" y="1540354"/>
            <a:ext cx="5154503" cy="3087304"/>
          </a:xfr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504BCA8-7362-4F7F-ADA0-0D103B6B08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458" y="1540354"/>
            <a:ext cx="5189068" cy="308730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C1BB7DD-5681-48CA-A48F-EC472EF5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6</a:t>
            </a:fld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CA7698-1C35-46D6-B7CC-DD1E0DD65B90}"/>
              </a:ext>
            </a:extLst>
          </p:cNvPr>
          <p:cNvSpPr txBox="1"/>
          <p:nvPr/>
        </p:nvSpPr>
        <p:spPr>
          <a:xfrm>
            <a:off x="61822" y="851846"/>
            <a:ext cx="6394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энтропии производился с помощью программы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6254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965" y="-11874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Гистограммы аудиофайлов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263A-2C67-4E72-821C-F42C4FCB8DC9}"/>
              </a:ext>
            </a:extLst>
          </p:cNvPr>
          <p:cNvSpPr txBox="1"/>
          <p:nvPr/>
        </p:nvSpPr>
        <p:spPr>
          <a:xfrm>
            <a:off x="543702" y="4627659"/>
            <a:ext cx="4782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оригинального аудиофайла с </a:t>
            </a:r>
            <a:r>
              <a:rPr lang="en-US" dirty="0"/>
              <a:t>wav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CC16B-2482-4029-AA46-11FF6E659C7E}"/>
              </a:ext>
            </a:extLst>
          </p:cNvPr>
          <p:cNvSpPr txBox="1"/>
          <p:nvPr/>
        </p:nvSpPr>
        <p:spPr>
          <a:xfrm>
            <a:off x="6512118" y="4627659"/>
            <a:ext cx="4707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</a:t>
            </a:r>
            <a:r>
              <a:rPr lang="en-US" dirty="0"/>
              <a:t> </a:t>
            </a:r>
            <a:r>
              <a:rPr lang="ru-RU" dirty="0"/>
              <a:t>упакованного аудиофайла с </a:t>
            </a:r>
            <a:r>
              <a:rPr lang="en-US" dirty="0"/>
              <a:t>wav</a:t>
            </a:r>
            <a:endParaRPr lang="ru-RU" dirty="0"/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303E0741-F37F-4D70-829F-AD0E66943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574035"/>
              </p:ext>
            </p:extLst>
          </p:nvPr>
        </p:nvGraphicFramePr>
        <p:xfrm>
          <a:off x="195248" y="5296193"/>
          <a:ext cx="522439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198">
                  <a:extLst>
                    <a:ext uri="{9D8B030D-6E8A-4147-A177-3AD203B41FA5}">
                      <a16:colId xmlns:a16="http://schemas.microsoft.com/office/drawing/2014/main" val="2859485569"/>
                    </a:ext>
                  </a:extLst>
                </a:gridCol>
                <a:gridCol w="2612198">
                  <a:extLst>
                    <a:ext uri="{9D8B030D-6E8A-4147-A177-3AD203B41FA5}">
                      <a16:colId xmlns:a16="http://schemas.microsoft.com/office/drawing/2014/main" val="4133159327"/>
                    </a:ext>
                  </a:extLst>
                </a:gridCol>
              </a:tblGrid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392948"/>
                  </a:ext>
                </a:extLst>
              </a:tr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1,65 МБ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  <a:r>
                        <a:rPr lang="en-US" dirty="0"/>
                        <a:t>,819677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41589"/>
                  </a:ext>
                </a:extLst>
              </a:tr>
            </a:tbl>
          </a:graphicData>
        </a:graphic>
      </p:graphicFrame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D2FB0463-FDDB-4A95-B912-E7E06909D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974270"/>
              </p:ext>
            </p:extLst>
          </p:nvPr>
        </p:nvGraphicFramePr>
        <p:xfrm>
          <a:off x="6456458" y="5295447"/>
          <a:ext cx="5627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879">
                  <a:extLst>
                    <a:ext uri="{9D8B030D-6E8A-4147-A177-3AD203B41FA5}">
                      <a16:colId xmlns:a16="http://schemas.microsoft.com/office/drawing/2014/main" val="3899487295"/>
                    </a:ext>
                  </a:extLst>
                </a:gridCol>
                <a:gridCol w="2813879">
                  <a:extLst>
                    <a:ext uri="{9D8B030D-6E8A-4147-A177-3AD203B41FA5}">
                      <a16:colId xmlns:a16="http://schemas.microsoft.com/office/drawing/2014/main" val="2961884715"/>
                    </a:ext>
                  </a:extLst>
                </a:gridCol>
              </a:tblGrid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31448"/>
                  </a:ext>
                </a:extLst>
              </a:tr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1,26 МБ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7,999764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303019"/>
                  </a:ext>
                </a:extLst>
              </a:tr>
            </a:tbl>
          </a:graphicData>
        </a:graphic>
      </p:graphicFrame>
      <p:pic>
        <p:nvPicPr>
          <p:cNvPr id="6" name="Объект 5">
            <a:extLst>
              <a:ext uri="{FF2B5EF4-FFF2-40B4-BE49-F238E27FC236}">
                <a16:creationId xmlns:a16="http://schemas.microsoft.com/office/drawing/2014/main" id="{6E0F5BDC-6CFF-400D-A369-6D11631D5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66" y="1536206"/>
            <a:ext cx="5240728" cy="3087305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4D7212E-EC2A-4E74-A79A-3A403E684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02" y="1540354"/>
            <a:ext cx="5216670" cy="308730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16D3988-BF43-400A-86E1-938D1B15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7</a:t>
            </a:fld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050F1A-DCFD-4F30-9E93-B6A452D8FD1D}"/>
              </a:ext>
            </a:extLst>
          </p:cNvPr>
          <p:cNvSpPr txBox="1"/>
          <p:nvPr/>
        </p:nvSpPr>
        <p:spPr>
          <a:xfrm>
            <a:off x="0" y="867672"/>
            <a:ext cx="6394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энтропии производился с помощью программы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E4FE89B-F6B9-45BF-AF0F-602D91006E4E}"/>
              </a:ext>
            </a:extLst>
          </p:cNvPr>
          <p:cNvCxnSpPr/>
          <p:nvPr/>
        </p:nvCxnSpPr>
        <p:spPr>
          <a:xfrm>
            <a:off x="7844118" y="2505635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513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4541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Гистограммы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фотофайлов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263A-2C67-4E72-821C-F42C4FCB8DC9}"/>
              </a:ext>
            </a:extLst>
          </p:cNvPr>
          <p:cNvSpPr txBox="1"/>
          <p:nvPr/>
        </p:nvSpPr>
        <p:spPr>
          <a:xfrm>
            <a:off x="543702" y="4627659"/>
            <a:ext cx="4588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оригинального </a:t>
            </a:r>
            <a:r>
              <a:rPr lang="ru-RU" dirty="0" err="1"/>
              <a:t>фотофайла</a:t>
            </a:r>
            <a:r>
              <a:rPr lang="ru-RU" dirty="0"/>
              <a:t> с </a:t>
            </a:r>
            <a:r>
              <a:rPr lang="en-US" dirty="0"/>
              <a:t>jpg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CC16B-2482-4029-AA46-11FF6E659C7E}"/>
              </a:ext>
            </a:extLst>
          </p:cNvPr>
          <p:cNvSpPr txBox="1"/>
          <p:nvPr/>
        </p:nvSpPr>
        <p:spPr>
          <a:xfrm>
            <a:off x="6512118" y="4627659"/>
            <a:ext cx="4512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</a:t>
            </a:r>
            <a:r>
              <a:rPr lang="en-US" dirty="0"/>
              <a:t> </a:t>
            </a:r>
            <a:r>
              <a:rPr lang="ru-RU" dirty="0"/>
              <a:t>упакованного </a:t>
            </a:r>
            <a:r>
              <a:rPr lang="ru-RU" dirty="0" err="1"/>
              <a:t>фотофайла</a:t>
            </a:r>
            <a:r>
              <a:rPr lang="ru-RU" dirty="0"/>
              <a:t> с </a:t>
            </a:r>
            <a:r>
              <a:rPr lang="en-US" dirty="0"/>
              <a:t>jpg</a:t>
            </a:r>
            <a:endParaRPr lang="ru-RU" dirty="0"/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303E0741-F37F-4D70-829F-AD0E66943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699658"/>
              </p:ext>
            </p:extLst>
          </p:nvPr>
        </p:nvGraphicFramePr>
        <p:xfrm>
          <a:off x="195248" y="5296193"/>
          <a:ext cx="522439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198">
                  <a:extLst>
                    <a:ext uri="{9D8B030D-6E8A-4147-A177-3AD203B41FA5}">
                      <a16:colId xmlns:a16="http://schemas.microsoft.com/office/drawing/2014/main" val="2859485569"/>
                    </a:ext>
                  </a:extLst>
                </a:gridCol>
                <a:gridCol w="2612198">
                  <a:extLst>
                    <a:ext uri="{9D8B030D-6E8A-4147-A177-3AD203B41FA5}">
                      <a16:colId xmlns:a16="http://schemas.microsoft.com/office/drawing/2014/main" val="4133159327"/>
                    </a:ext>
                  </a:extLst>
                </a:gridCol>
              </a:tblGrid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392948"/>
                  </a:ext>
                </a:extLst>
              </a:tr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15,5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960394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41589"/>
                  </a:ext>
                </a:extLst>
              </a:tr>
            </a:tbl>
          </a:graphicData>
        </a:graphic>
      </p:graphicFrame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D2FB0463-FDDB-4A95-B912-E7E06909D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249989"/>
              </p:ext>
            </p:extLst>
          </p:nvPr>
        </p:nvGraphicFramePr>
        <p:xfrm>
          <a:off x="6456458" y="5295447"/>
          <a:ext cx="5627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879">
                  <a:extLst>
                    <a:ext uri="{9D8B030D-6E8A-4147-A177-3AD203B41FA5}">
                      <a16:colId xmlns:a16="http://schemas.microsoft.com/office/drawing/2014/main" val="3899487295"/>
                    </a:ext>
                  </a:extLst>
                </a:gridCol>
                <a:gridCol w="2813879">
                  <a:extLst>
                    <a:ext uri="{9D8B030D-6E8A-4147-A177-3AD203B41FA5}">
                      <a16:colId xmlns:a16="http://schemas.microsoft.com/office/drawing/2014/main" val="2961884715"/>
                    </a:ext>
                  </a:extLst>
                </a:gridCol>
              </a:tblGrid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31448"/>
                  </a:ext>
                </a:extLst>
              </a:tr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15,4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7,</a:t>
                      </a:r>
                      <a:r>
                        <a:rPr lang="ru-RU" dirty="0"/>
                        <a:t>985238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303019"/>
                  </a:ext>
                </a:extLst>
              </a:tr>
            </a:tbl>
          </a:graphicData>
        </a:graphic>
      </p:graphicFrame>
      <p:pic>
        <p:nvPicPr>
          <p:cNvPr id="7" name="Объект 6">
            <a:extLst>
              <a:ext uri="{FF2B5EF4-FFF2-40B4-BE49-F238E27FC236}">
                <a16:creationId xmlns:a16="http://schemas.microsoft.com/office/drawing/2014/main" id="{004128B9-E7D5-4F0A-8327-91B194DE5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90" y="1540354"/>
            <a:ext cx="5207109" cy="3087305"/>
          </a:xfr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FF58942-9B87-40F0-94E5-4C8318ACEF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11" y="1540354"/>
            <a:ext cx="5192533" cy="308730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C965DB1-D114-4CD6-9232-B67F7A691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8</a:t>
            </a:fld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F6CCD0-4DFE-4037-8917-23F7295D92F3}"/>
              </a:ext>
            </a:extLst>
          </p:cNvPr>
          <p:cNvSpPr txBox="1"/>
          <p:nvPr/>
        </p:nvSpPr>
        <p:spPr>
          <a:xfrm>
            <a:off x="0" y="885601"/>
            <a:ext cx="6394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энтропии производился с помощью программы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ru-RU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A14033B-EB6F-41F3-AC5A-0E7109CDBAD7}"/>
              </a:ext>
            </a:extLst>
          </p:cNvPr>
          <p:cNvCxnSpPr/>
          <p:nvPr/>
        </p:nvCxnSpPr>
        <p:spPr>
          <a:xfrm>
            <a:off x="1864659" y="2505635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160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465" y="-387910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Гистограммы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фотофайлов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263A-2C67-4E72-821C-F42C4FCB8DC9}"/>
              </a:ext>
            </a:extLst>
          </p:cNvPr>
          <p:cNvSpPr txBox="1"/>
          <p:nvPr/>
        </p:nvSpPr>
        <p:spPr>
          <a:xfrm>
            <a:off x="543702" y="4627659"/>
            <a:ext cx="4655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оригинального </a:t>
            </a:r>
            <a:r>
              <a:rPr lang="ru-RU" dirty="0" err="1"/>
              <a:t>фотофайла</a:t>
            </a:r>
            <a:r>
              <a:rPr lang="ru-RU" dirty="0"/>
              <a:t> с </a:t>
            </a:r>
            <a:r>
              <a:rPr lang="en-US" dirty="0" err="1"/>
              <a:t>png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CC16B-2482-4029-AA46-11FF6E659C7E}"/>
              </a:ext>
            </a:extLst>
          </p:cNvPr>
          <p:cNvSpPr txBox="1"/>
          <p:nvPr/>
        </p:nvSpPr>
        <p:spPr>
          <a:xfrm>
            <a:off x="6512118" y="4627659"/>
            <a:ext cx="4580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</a:t>
            </a:r>
            <a:r>
              <a:rPr lang="en-US" dirty="0"/>
              <a:t> </a:t>
            </a:r>
            <a:r>
              <a:rPr lang="ru-RU" dirty="0"/>
              <a:t>упакованного </a:t>
            </a:r>
            <a:r>
              <a:rPr lang="ru-RU" dirty="0" err="1"/>
              <a:t>фотофайла</a:t>
            </a:r>
            <a:r>
              <a:rPr lang="ru-RU" dirty="0"/>
              <a:t> с </a:t>
            </a:r>
            <a:r>
              <a:rPr lang="en-US" dirty="0" err="1"/>
              <a:t>png</a:t>
            </a:r>
            <a:endParaRPr lang="ru-RU" dirty="0"/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303E0741-F37F-4D70-829F-AD0E66943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281645"/>
              </p:ext>
            </p:extLst>
          </p:nvPr>
        </p:nvGraphicFramePr>
        <p:xfrm>
          <a:off x="195248" y="5296193"/>
          <a:ext cx="522439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198">
                  <a:extLst>
                    <a:ext uri="{9D8B030D-6E8A-4147-A177-3AD203B41FA5}">
                      <a16:colId xmlns:a16="http://schemas.microsoft.com/office/drawing/2014/main" val="2859485569"/>
                    </a:ext>
                  </a:extLst>
                </a:gridCol>
                <a:gridCol w="2612198">
                  <a:extLst>
                    <a:ext uri="{9D8B030D-6E8A-4147-A177-3AD203B41FA5}">
                      <a16:colId xmlns:a16="http://schemas.microsoft.com/office/drawing/2014/main" val="4133159327"/>
                    </a:ext>
                  </a:extLst>
                </a:gridCol>
              </a:tblGrid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392948"/>
                  </a:ext>
                </a:extLst>
              </a:tr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79,0 КБ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9</a:t>
                      </a:r>
                      <a:r>
                        <a:rPr lang="en-US" dirty="0"/>
                        <a:t>81836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41589"/>
                  </a:ext>
                </a:extLst>
              </a:tr>
            </a:tbl>
          </a:graphicData>
        </a:graphic>
      </p:graphicFrame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D2FB0463-FDDB-4A95-B912-E7E06909D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657843"/>
              </p:ext>
            </p:extLst>
          </p:nvPr>
        </p:nvGraphicFramePr>
        <p:xfrm>
          <a:off x="6456458" y="5295447"/>
          <a:ext cx="5627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879">
                  <a:extLst>
                    <a:ext uri="{9D8B030D-6E8A-4147-A177-3AD203B41FA5}">
                      <a16:colId xmlns:a16="http://schemas.microsoft.com/office/drawing/2014/main" val="3899487295"/>
                    </a:ext>
                  </a:extLst>
                </a:gridCol>
                <a:gridCol w="2813879">
                  <a:extLst>
                    <a:ext uri="{9D8B030D-6E8A-4147-A177-3AD203B41FA5}">
                      <a16:colId xmlns:a16="http://schemas.microsoft.com/office/drawing/2014/main" val="2961884715"/>
                    </a:ext>
                  </a:extLst>
                </a:gridCol>
              </a:tblGrid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31448"/>
                  </a:ext>
                </a:extLst>
              </a:tr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79,2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7,</a:t>
                      </a:r>
                      <a:r>
                        <a:rPr lang="ru-RU" dirty="0"/>
                        <a:t>9</a:t>
                      </a:r>
                      <a:r>
                        <a:rPr lang="en-US" dirty="0"/>
                        <a:t>81627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303019"/>
                  </a:ext>
                </a:extLst>
              </a:tr>
            </a:tbl>
          </a:graphicData>
        </a:graphic>
      </p:graphicFrame>
      <p:pic>
        <p:nvPicPr>
          <p:cNvPr id="6" name="Объект 5">
            <a:extLst>
              <a:ext uri="{FF2B5EF4-FFF2-40B4-BE49-F238E27FC236}">
                <a16:creationId xmlns:a16="http://schemas.microsoft.com/office/drawing/2014/main" id="{211A0B6C-5237-48D0-8799-11765D476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20" y="1529089"/>
            <a:ext cx="5224396" cy="3098570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051594E-E7D9-45CB-B334-7AE024C507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045" y="1526111"/>
            <a:ext cx="5248374" cy="309857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232A3B3-BA20-4B58-BEAF-1BB13071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9</a:t>
            </a:fld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AC44BB-51C8-4A38-BBF1-3D4555DB5504}"/>
              </a:ext>
            </a:extLst>
          </p:cNvPr>
          <p:cNvSpPr txBox="1"/>
          <p:nvPr/>
        </p:nvSpPr>
        <p:spPr>
          <a:xfrm>
            <a:off x="0" y="717922"/>
            <a:ext cx="6394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энтропии производился с помощью программы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81CF406-1A5F-4331-ABF2-70E543C32A4F}"/>
              </a:ext>
            </a:extLst>
          </p:cNvPr>
          <p:cNvCxnSpPr/>
          <p:nvPr/>
        </p:nvCxnSpPr>
        <p:spPr>
          <a:xfrm>
            <a:off x="1568823" y="2572872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175ABF3-DCF0-4817-B41B-254B14F6519F}"/>
              </a:ext>
            </a:extLst>
          </p:cNvPr>
          <p:cNvCxnSpPr/>
          <p:nvPr/>
        </p:nvCxnSpPr>
        <p:spPr>
          <a:xfrm>
            <a:off x="7521389" y="2572872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561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9651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Гистограммы табличных файлов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263A-2C67-4E72-821C-F42C4FCB8DC9}"/>
              </a:ext>
            </a:extLst>
          </p:cNvPr>
          <p:cNvSpPr txBox="1"/>
          <p:nvPr/>
        </p:nvSpPr>
        <p:spPr>
          <a:xfrm>
            <a:off x="543702" y="4627659"/>
            <a:ext cx="5135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оригинального табличного файла </a:t>
            </a:r>
            <a:r>
              <a:rPr lang="en-US" dirty="0"/>
              <a:t>csv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CC16B-2482-4029-AA46-11FF6E659C7E}"/>
              </a:ext>
            </a:extLst>
          </p:cNvPr>
          <p:cNvSpPr txBox="1"/>
          <p:nvPr/>
        </p:nvSpPr>
        <p:spPr>
          <a:xfrm>
            <a:off x="6096000" y="4627659"/>
            <a:ext cx="5112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</a:t>
            </a:r>
            <a:r>
              <a:rPr lang="en-US" dirty="0"/>
              <a:t> </a:t>
            </a:r>
            <a:r>
              <a:rPr lang="ru-RU" dirty="0"/>
              <a:t>упакованного табличного файла </a:t>
            </a:r>
            <a:r>
              <a:rPr lang="en-US" dirty="0"/>
              <a:t>csv</a:t>
            </a:r>
            <a:endParaRPr lang="ru-RU" dirty="0"/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303E0741-F37F-4D70-829F-AD0E66943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751884"/>
              </p:ext>
            </p:extLst>
          </p:nvPr>
        </p:nvGraphicFramePr>
        <p:xfrm>
          <a:off x="195248" y="5296193"/>
          <a:ext cx="522439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198">
                  <a:extLst>
                    <a:ext uri="{9D8B030D-6E8A-4147-A177-3AD203B41FA5}">
                      <a16:colId xmlns:a16="http://schemas.microsoft.com/office/drawing/2014/main" val="2859485569"/>
                    </a:ext>
                  </a:extLst>
                </a:gridCol>
                <a:gridCol w="2612198">
                  <a:extLst>
                    <a:ext uri="{9D8B030D-6E8A-4147-A177-3AD203B41FA5}">
                      <a16:colId xmlns:a16="http://schemas.microsoft.com/office/drawing/2014/main" val="4133159327"/>
                    </a:ext>
                  </a:extLst>
                </a:gridCol>
              </a:tblGrid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392948"/>
                  </a:ext>
                </a:extLst>
              </a:tr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1,44 КБ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</a:t>
                      </a:r>
                      <a:r>
                        <a:rPr lang="en-US" dirty="0"/>
                        <a:t>,195358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41589"/>
                  </a:ext>
                </a:extLst>
              </a:tr>
            </a:tbl>
          </a:graphicData>
        </a:graphic>
      </p:graphicFrame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D2FB0463-FDDB-4A95-B912-E7E06909D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903099"/>
              </p:ext>
            </p:extLst>
          </p:nvPr>
        </p:nvGraphicFramePr>
        <p:xfrm>
          <a:off x="6456458" y="5295447"/>
          <a:ext cx="5627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879">
                  <a:extLst>
                    <a:ext uri="{9D8B030D-6E8A-4147-A177-3AD203B41FA5}">
                      <a16:colId xmlns:a16="http://schemas.microsoft.com/office/drawing/2014/main" val="3899487295"/>
                    </a:ext>
                  </a:extLst>
                </a:gridCol>
                <a:gridCol w="2813879">
                  <a:extLst>
                    <a:ext uri="{9D8B030D-6E8A-4147-A177-3AD203B41FA5}">
                      <a16:colId xmlns:a16="http://schemas.microsoft.com/office/drawing/2014/main" val="2961884715"/>
                    </a:ext>
                  </a:extLst>
                </a:gridCol>
              </a:tblGrid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31448"/>
                  </a:ext>
                </a:extLst>
              </a:tr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1014 байт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7,774232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303019"/>
                  </a:ext>
                </a:extLst>
              </a:tr>
            </a:tbl>
          </a:graphicData>
        </a:graphic>
      </p:graphicFrame>
      <p:pic>
        <p:nvPicPr>
          <p:cNvPr id="7" name="Объект 6">
            <a:extLst>
              <a:ext uri="{FF2B5EF4-FFF2-40B4-BE49-F238E27FC236}">
                <a16:creationId xmlns:a16="http://schemas.microsoft.com/office/drawing/2014/main" id="{7016B924-F2FC-48FF-A4EE-1B1660F3F7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78" y="1526111"/>
            <a:ext cx="5244576" cy="3098570"/>
          </a:xfr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9A63946-ADC0-468E-958F-A8658DC413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107" y="1526111"/>
            <a:ext cx="5193378" cy="309857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DD32386-A87B-4897-B577-5E4AB379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10</a:t>
            </a:fld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F8C35F-1FB7-49A6-804F-E28108B1FE15}"/>
              </a:ext>
            </a:extLst>
          </p:cNvPr>
          <p:cNvSpPr txBox="1"/>
          <p:nvPr/>
        </p:nvSpPr>
        <p:spPr>
          <a:xfrm>
            <a:off x="61822" y="854599"/>
            <a:ext cx="6394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энтропии производился с помощью программы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ru-RU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EA728BB-FF27-481D-AB74-3959D985B0E8}"/>
              </a:ext>
            </a:extLst>
          </p:cNvPr>
          <p:cNvCxnSpPr/>
          <p:nvPr/>
        </p:nvCxnSpPr>
        <p:spPr>
          <a:xfrm>
            <a:off x="1775012" y="2581835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E1FD7678-ED95-4B7D-A961-F1146256B995}"/>
              </a:ext>
            </a:extLst>
          </p:cNvPr>
          <p:cNvCxnSpPr/>
          <p:nvPr/>
        </p:nvCxnSpPr>
        <p:spPr>
          <a:xfrm>
            <a:off x="7602071" y="2581835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377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8616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Гистограммы табличных файлов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263A-2C67-4E72-821C-F42C4FCB8DC9}"/>
              </a:ext>
            </a:extLst>
          </p:cNvPr>
          <p:cNvSpPr txBox="1"/>
          <p:nvPr/>
        </p:nvSpPr>
        <p:spPr>
          <a:xfrm>
            <a:off x="543702" y="4627659"/>
            <a:ext cx="5278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оригинального табличного файла </a:t>
            </a:r>
            <a:r>
              <a:rPr lang="en-US" dirty="0"/>
              <a:t>xlsx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CC16B-2482-4029-AA46-11FF6E659C7E}"/>
              </a:ext>
            </a:extLst>
          </p:cNvPr>
          <p:cNvSpPr txBox="1"/>
          <p:nvPr/>
        </p:nvSpPr>
        <p:spPr>
          <a:xfrm>
            <a:off x="6096000" y="4627659"/>
            <a:ext cx="5110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</a:t>
            </a:r>
            <a:r>
              <a:rPr lang="en-US" dirty="0"/>
              <a:t> </a:t>
            </a:r>
            <a:r>
              <a:rPr lang="ru-RU" dirty="0"/>
              <a:t>упакованного табличного файла </a:t>
            </a:r>
            <a:r>
              <a:rPr lang="en-US" dirty="0"/>
              <a:t>xlsx</a:t>
            </a:r>
            <a:endParaRPr lang="ru-RU" dirty="0"/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303E0741-F37F-4D70-829F-AD0E66943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711852"/>
              </p:ext>
            </p:extLst>
          </p:nvPr>
        </p:nvGraphicFramePr>
        <p:xfrm>
          <a:off x="195248" y="5296193"/>
          <a:ext cx="522439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198">
                  <a:extLst>
                    <a:ext uri="{9D8B030D-6E8A-4147-A177-3AD203B41FA5}">
                      <a16:colId xmlns:a16="http://schemas.microsoft.com/office/drawing/2014/main" val="2859485569"/>
                    </a:ext>
                  </a:extLst>
                </a:gridCol>
                <a:gridCol w="2612198">
                  <a:extLst>
                    <a:ext uri="{9D8B030D-6E8A-4147-A177-3AD203B41FA5}">
                      <a16:colId xmlns:a16="http://schemas.microsoft.com/office/drawing/2014/main" val="4133159327"/>
                    </a:ext>
                  </a:extLst>
                </a:gridCol>
              </a:tblGrid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392948"/>
                  </a:ext>
                </a:extLst>
              </a:tr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10,9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7,009197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41589"/>
                  </a:ext>
                </a:extLst>
              </a:tr>
            </a:tbl>
          </a:graphicData>
        </a:graphic>
      </p:graphicFrame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D2FB0463-FDDB-4A95-B912-E7E06909D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537776"/>
              </p:ext>
            </p:extLst>
          </p:nvPr>
        </p:nvGraphicFramePr>
        <p:xfrm>
          <a:off x="6456458" y="5295447"/>
          <a:ext cx="5627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879">
                  <a:extLst>
                    <a:ext uri="{9D8B030D-6E8A-4147-A177-3AD203B41FA5}">
                      <a16:colId xmlns:a16="http://schemas.microsoft.com/office/drawing/2014/main" val="3899487295"/>
                    </a:ext>
                  </a:extLst>
                </a:gridCol>
                <a:gridCol w="2813879">
                  <a:extLst>
                    <a:ext uri="{9D8B030D-6E8A-4147-A177-3AD203B41FA5}">
                      <a16:colId xmlns:a16="http://schemas.microsoft.com/office/drawing/2014/main" val="2961884715"/>
                    </a:ext>
                  </a:extLst>
                </a:gridCol>
              </a:tblGrid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31448"/>
                  </a:ext>
                </a:extLst>
              </a:tr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8,49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7,975297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303019"/>
                  </a:ext>
                </a:extLst>
              </a:tr>
            </a:tbl>
          </a:graphicData>
        </a:graphic>
      </p:graphicFrame>
      <p:pic>
        <p:nvPicPr>
          <p:cNvPr id="6" name="Объект 5">
            <a:extLst>
              <a:ext uri="{FF2B5EF4-FFF2-40B4-BE49-F238E27FC236}">
                <a16:creationId xmlns:a16="http://schemas.microsoft.com/office/drawing/2014/main" id="{F7622F80-5513-47A1-92D6-648363D2D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17" y="1527169"/>
            <a:ext cx="5229778" cy="3097512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1CD8C26-A243-4186-8EEC-327D7A613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7169"/>
            <a:ext cx="5228077" cy="309751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7FFE7C5-7433-4E0E-84C4-EA7751E7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11</a:t>
            </a:fld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EAABCE-F576-4AD2-9592-09C85652FEA1}"/>
              </a:ext>
            </a:extLst>
          </p:cNvPr>
          <p:cNvSpPr txBox="1"/>
          <p:nvPr/>
        </p:nvSpPr>
        <p:spPr>
          <a:xfrm>
            <a:off x="-14368" y="896843"/>
            <a:ext cx="6394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энтропии производился с помощью программы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84C6ED96-3905-40E7-A7AB-BAE42A572304}"/>
              </a:ext>
            </a:extLst>
          </p:cNvPr>
          <p:cNvCxnSpPr/>
          <p:nvPr/>
        </p:nvCxnSpPr>
        <p:spPr>
          <a:xfrm>
            <a:off x="1766048" y="2653553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8522001D-27A5-4576-8BDC-32DA0F992D81}"/>
              </a:ext>
            </a:extLst>
          </p:cNvPr>
          <p:cNvCxnSpPr/>
          <p:nvPr/>
        </p:nvCxnSpPr>
        <p:spPr>
          <a:xfrm>
            <a:off x="7368989" y="2505635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03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2052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Гистограммы текстовых файлов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263A-2C67-4E72-821C-F42C4FCB8DC9}"/>
              </a:ext>
            </a:extLst>
          </p:cNvPr>
          <p:cNvSpPr txBox="1"/>
          <p:nvPr/>
        </p:nvSpPr>
        <p:spPr>
          <a:xfrm>
            <a:off x="543702" y="4627659"/>
            <a:ext cx="5119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оригинального текстового файла </a:t>
            </a:r>
            <a:r>
              <a:rPr lang="en-US" dirty="0"/>
              <a:t>doc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CC16B-2482-4029-AA46-11FF6E659C7E}"/>
              </a:ext>
            </a:extLst>
          </p:cNvPr>
          <p:cNvSpPr txBox="1"/>
          <p:nvPr/>
        </p:nvSpPr>
        <p:spPr>
          <a:xfrm>
            <a:off x="6096000" y="4627659"/>
            <a:ext cx="499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упакованного текстового файла </a:t>
            </a:r>
            <a:r>
              <a:rPr lang="en-US" dirty="0"/>
              <a:t>doc</a:t>
            </a:r>
            <a:endParaRPr lang="ru-RU" dirty="0"/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303E0741-F37F-4D70-829F-AD0E66943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759934"/>
              </p:ext>
            </p:extLst>
          </p:nvPr>
        </p:nvGraphicFramePr>
        <p:xfrm>
          <a:off x="195248" y="5296193"/>
          <a:ext cx="522439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198">
                  <a:extLst>
                    <a:ext uri="{9D8B030D-6E8A-4147-A177-3AD203B41FA5}">
                      <a16:colId xmlns:a16="http://schemas.microsoft.com/office/drawing/2014/main" val="2859485569"/>
                    </a:ext>
                  </a:extLst>
                </a:gridCol>
                <a:gridCol w="2612198">
                  <a:extLst>
                    <a:ext uri="{9D8B030D-6E8A-4147-A177-3AD203B41FA5}">
                      <a16:colId xmlns:a16="http://schemas.microsoft.com/office/drawing/2014/main" val="4133159327"/>
                    </a:ext>
                  </a:extLst>
                </a:gridCol>
              </a:tblGrid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392948"/>
                  </a:ext>
                </a:extLst>
              </a:tr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29,0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  <a:r>
                        <a:rPr lang="en-US" dirty="0"/>
                        <a:t>,446656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41589"/>
                  </a:ext>
                </a:extLst>
              </a:tr>
            </a:tbl>
          </a:graphicData>
        </a:graphic>
      </p:graphicFrame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D2FB0463-FDDB-4A95-B912-E7E06909D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157256"/>
              </p:ext>
            </p:extLst>
          </p:nvPr>
        </p:nvGraphicFramePr>
        <p:xfrm>
          <a:off x="6456458" y="5295447"/>
          <a:ext cx="5627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879">
                  <a:extLst>
                    <a:ext uri="{9D8B030D-6E8A-4147-A177-3AD203B41FA5}">
                      <a16:colId xmlns:a16="http://schemas.microsoft.com/office/drawing/2014/main" val="3899487295"/>
                    </a:ext>
                  </a:extLst>
                </a:gridCol>
                <a:gridCol w="2813879">
                  <a:extLst>
                    <a:ext uri="{9D8B030D-6E8A-4147-A177-3AD203B41FA5}">
                      <a16:colId xmlns:a16="http://schemas.microsoft.com/office/drawing/2014/main" val="2961884715"/>
                    </a:ext>
                  </a:extLst>
                </a:gridCol>
              </a:tblGrid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31448"/>
                  </a:ext>
                </a:extLst>
              </a:tr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7,83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7,973312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303019"/>
                  </a:ext>
                </a:extLst>
              </a:tr>
            </a:tbl>
          </a:graphicData>
        </a:graphic>
      </p:graphicFrame>
      <p:pic>
        <p:nvPicPr>
          <p:cNvPr id="7" name="Объект 6">
            <a:extLst>
              <a:ext uri="{FF2B5EF4-FFF2-40B4-BE49-F238E27FC236}">
                <a16:creationId xmlns:a16="http://schemas.microsoft.com/office/drawing/2014/main" id="{DD3E73D2-624C-4108-83FE-8BE6B0770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87" y="1527168"/>
            <a:ext cx="5261378" cy="3097513"/>
          </a:xfr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BB46D01-EC99-4D14-BE95-B94324F2ED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0902" y="1527167"/>
            <a:ext cx="5302898" cy="309751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7F2CAA2-F39A-44BD-9E0E-85039042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12</a:t>
            </a:fld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8C0503-E0D2-490B-9883-C29E57D1A3B6}"/>
              </a:ext>
            </a:extLst>
          </p:cNvPr>
          <p:cNvSpPr txBox="1"/>
          <p:nvPr/>
        </p:nvSpPr>
        <p:spPr>
          <a:xfrm>
            <a:off x="13853" y="772205"/>
            <a:ext cx="6394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энтропии производился с помощью программы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ru-RU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DDDF20AB-881E-4E4C-8C0E-7D9DB1D74890}"/>
              </a:ext>
            </a:extLst>
          </p:cNvPr>
          <p:cNvCxnSpPr/>
          <p:nvPr/>
        </p:nvCxnSpPr>
        <p:spPr>
          <a:xfrm>
            <a:off x="1676400" y="2608730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D653D5A0-E315-49EB-A2B6-E0D8F19BC732}"/>
              </a:ext>
            </a:extLst>
          </p:cNvPr>
          <p:cNvCxnSpPr/>
          <p:nvPr/>
        </p:nvCxnSpPr>
        <p:spPr>
          <a:xfrm>
            <a:off x="7333130" y="2608730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865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50D39-60B5-4FFD-8738-2E2D2939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98264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Гистограммы текстовых файлов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5263A-2C67-4E72-821C-F42C4FCB8DC9}"/>
              </a:ext>
            </a:extLst>
          </p:cNvPr>
          <p:cNvSpPr txBox="1"/>
          <p:nvPr/>
        </p:nvSpPr>
        <p:spPr>
          <a:xfrm>
            <a:off x="543702" y="4627659"/>
            <a:ext cx="503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оригинального текстового файла </a:t>
            </a:r>
            <a:r>
              <a:rPr lang="en-US" dirty="0"/>
              <a:t>txt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FCC16B-2482-4029-AA46-11FF6E659C7E}"/>
              </a:ext>
            </a:extLst>
          </p:cNvPr>
          <p:cNvSpPr txBox="1"/>
          <p:nvPr/>
        </p:nvSpPr>
        <p:spPr>
          <a:xfrm>
            <a:off x="6096000" y="4627659"/>
            <a:ext cx="4904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Гистограмма упакованного текстового файла </a:t>
            </a:r>
            <a:r>
              <a:rPr lang="en-US" dirty="0"/>
              <a:t>txt</a:t>
            </a:r>
            <a:endParaRPr lang="ru-RU" dirty="0"/>
          </a:p>
        </p:txBody>
      </p:sp>
      <p:graphicFrame>
        <p:nvGraphicFramePr>
          <p:cNvPr id="10" name="Таблица 10">
            <a:extLst>
              <a:ext uri="{FF2B5EF4-FFF2-40B4-BE49-F238E27FC236}">
                <a16:creationId xmlns:a16="http://schemas.microsoft.com/office/drawing/2014/main" id="{303E0741-F37F-4D70-829F-AD0E66943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60597"/>
              </p:ext>
            </p:extLst>
          </p:nvPr>
        </p:nvGraphicFramePr>
        <p:xfrm>
          <a:off x="195248" y="5296193"/>
          <a:ext cx="522439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198">
                  <a:extLst>
                    <a:ext uri="{9D8B030D-6E8A-4147-A177-3AD203B41FA5}">
                      <a16:colId xmlns:a16="http://schemas.microsoft.com/office/drawing/2014/main" val="2859485569"/>
                    </a:ext>
                  </a:extLst>
                </a:gridCol>
                <a:gridCol w="2612198">
                  <a:extLst>
                    <a:ext uri="{9D8B030D-6E8A-4147-A177-3AD203B41FA5}">
                      <a16:colId xmlns:a16="http://schemas.microsoft.com/office/drawing/2014/main" val="4133159327"/>
                    </a:ext>
                  </a:extLst>
                </a:gridCol>
              </a:tblGrid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3392948"/>
                  </a:ext>
                </a:extLst>
              </a:tr>
              <a:tr h="301838">
                <a:tc>
                  <a:txBody>
                    <a:bodyPr/>
                    <a:lstStyle/>
                    <a:p>
                      <a:r>
                        <a:rPr lang="ru-RU" dirty="0"/>
                        <a:t>3,38 КБ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5,668388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941589"/>
                  </a:ext>
                </a:extLst>
              </a:tr>
            </a:tbl>
          </a:graphicData>
        </a:graphic>
      </p:graphicFrame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D2FB0463-FDDB-4A95-B912-E7E06909D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489547"/>
              </p:ext>
            </p:extLst>
          </p:nvPr>
        </p:nvGraphicFramePr>
        <p:xfrm>
          <a:off x="6456458" y="5295447"/>
          <a:ext cx="56277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879">
                  <a:extLst>
                    <a:ext uri="{9D8B030D-6E8A-4147-A177-3AD203B41FA5}">
                      <a16:colId xmlns:a16="http://schemas.microsoft.com/office/drawing/2014/main" val="3899487295"/>
                    </a:ext>
                  </a:extLst>
                </a:gridCol>
                <a:gridCol w="2813879">
                  <a:extLst>
                    <a:ext uri="{9D8B030D-6E8A-4147-A177-3AD203B41FA5}">
                      <a16:colId xmlns:a16="http://schemas.microsoft.com/office/drawing/2014/main" val="2961884715"/>
                    </a:ext>
                  </a:extLst>
                </a:gridCol>
              </a:tblGrid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Энтропия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831448"/>
                  </a:ext>
                </a:extLst>
              </a:tr>
              <a:tr h="317367">
                <a:tc>
                  <a:txBody>
                    <a:bodyPr/>
                    <a:lstStyle/>
                    <a:p>
                      <a:r>
                        <a:rPr lang="ru-RU" dirty="0"/>
                        <a:t>1,66 КБ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7,865484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303019"/>
                  </a:ext>
                </a:extLst>
              </a:tr>
            </a:tbl>
          </a:graphicData>
        </a:graphic>
      </p:graphicFrame>
      <p:pic>
        <p:nvPicPr>
          <p:cNvPr id="6" name="Объект 5">
            <a:extLst>
              <a:ext uri="{FF2B5EF4-FFF2-40B4-BE49-F238E27FC236}">
                <a16:creationId xmlns:a16="http://schemas.microsoft.com/office/drawing/2014/main" id="{D19ECA6E-3243-4802-BB39-3F9C96F091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1" y="1481491"/>
            <a:ext cx="5302898" cy="3138563"/>
          </a:xfr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1ED8455-DFEC-4F58-8723-FAF9C58C9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098" y="1489096"/>
            <a:ext cx="5306723" cy="3138563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055551E-DF9C-483A-B61A-9A3A9AAD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13</a:t>
            </a:fld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FF20A3-1932-4AC5-B421-1B3F36168CA8}"/>
              </a:ext>
            </a:extLst>
          </p:cNvPr>
          <p:cNvSpPr txBox="1"/>
          <p:nvPr/>
        </p:nvSpPr>
        <p:spPr>
          <a:xfrm>
            <a:off x="61822" y="785497"/>
            <a:ext cx="6394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Расчет энтропии производился с помощью программы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Radare2</a:t>
            </a:r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AE8810F-6882-4F75-B1E5-ECC98282BC06}"/>
              </a:ext>
            </a:extLst>
          </p:cNvPr>
          <p:cNvCxnSpPr/>
          <p:nvPr/>
        </p:nvCxnSpPr>
        <p:spPr>
          <a:xfrm>
            <a:off x="1362636" y="2671483"/>
            <a:ext cx="0" cy="184672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5580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0AD900-C14D-4BA8-B6DD-D07317259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83" y="106045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Таблица соответствий энтропий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390723E-E2E0-4F2B-B5EF-7597E3573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783" y="1523048"/>
            <a:ext cx="11886433" cy="3038792"/>
          </a:xfr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AB8E41C-BE82-4E35-8713-9A8F8E85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457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C2E96F-563D-466D-A2EF-03EF9D0B9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728CBE-B62A-4C88-9E21-CD0EB846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ru-RU" dirty="0"/>
              <a:t>Для исполняемых файлов (</a:t>
            </a:r>
            <a:r>
              <a:rPr lang="en-US" dirty="0"/>
              <a:t>EXE)</a:t>
            </a:r>
            <a:r>
              <a:rPr lang="ru-RU" dirty="0"/>
              <a:t> на языке C упаковка обеспечивает уменьшение размера и рост энтропии, что усложняет статический анализ. </a:t>
            </a:r>
          </a:p>
          <a:p>
            <a:pPr algn="just"/>
            <a:r>
              <a:rPr lang="ru-RU" dirty="0"/>
              <a:t>Для</a:t>
            </a:r>
            <a:r>
              <a:rPr lang="en-US" dirty="0"/>
              <a:t> </a:t>
            </a:r>
            <a:r>
              <a:rPr lang="ru-RU" dirty="0"/>
              <a:t>исполняемых .NET-приложений (</a:t>
            </a:r>
            <a:r>
              <a:rPr lang="en-US"/>
              <a:t>EXE)</a:t>
            </a:r>
            <a:r>
              <a:rPr lang="ru-RU" dirty="0"/>
              <a:t> на C# упаковка менее эффективна с точки зрения сжатия, но повышает энтропию.</a:t>
            </a:r>
          </a:p>
          <a:p>
            <a:pPr algn="just"/>
            <a:r>
              <a:rPr lang="ru-RU" dirty="0"/>
              <a:t> Наиболее выраженный эффект сжатия наблюдается у Python-приложений и текстовых форматов (TXT, CSV, DOC), где устраняются избыточные данные.</a:t>
            </a:r>
          </a:p>
          <a:p>
            <a:pPr algn="just"/>
            <a:r>
              <a:rPr lang="ru-RU" dirty="0"/>
              <a:t>Файлы, уже использующие встроенные алгоритмы сжатия (MP3, JPG, PNG, XLSX), показали минимальные изменения размеров и энтропии, что подтверждает низкую эффективность повторной упаковки.</a:t>
            </a:r>
          </a:p>
          <a:p>
            <a:pPr algn="just"/>
            <a:r>
              <a:rPr lang="ru-RU" dirty="0"/>
              <a:t>Таким образом, увеличение энтропии после упаковки свидетельствует об усложнении структуры файла и снижении его читаемости при анализе, а степень изменения размера зависит от исходных данных и наличия встроенного сжатия.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001CCEC-7DBA-4798-9E05-5BFE48F6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45341-AD40-4D83-930C-9F0B02CE091E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2763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568</Words>
  <Application>Microsoft Office PowerPoint</Application>
  <PresentationFormat>Широкоэкранный</PresentationFormat>
  <Paragraphs>158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Технология реверс-инжиниринга Задание 1. Сравнение энтропии неупакованного и упакованного файлов </vt:lpstr>
      <vt:lpstr>Код исполняемых файлов Конвертация проводилась с помощью онлайн компилятора: https://www.codeconverter.com/</vt:lpstr>
      <vt:lpstr>Гистограммы исполняемых файлов Расчет энтропии производился с помощью программы Radare2</vt:lpstr>
      <vt:lpstr>Гистограммы исполняемых файлов Расчет энтропии производился с помощью программы Radare2</vt:lpstr>
      <vt:lpstr>Гистограммы исполняемых файлов</vt:lpstr>
      <vt:lpstr>Гистограммы аудиофайлов</vt:lpstr>
      <vt:lpstr>Гистограммы аудиофайлов</vt:lpstr>
      <vt:lpstr>Гистограммы фотофайлов</vt:lpstr>
      <vt:lpstr>Гистограммы фотофайлов</vt:lpstr>
      <vt:lpstr>Гистограммы табличных файлов</vt:lpstr>
      <vt:lpstr>Гистограммы табличных файлов</vt:lpstr>
      <vt:lpstr>Гистограммы текстовых файлов</vt:lpstr>
      <vt:lpstr>Гистограммы текстовых файлов</vt:lpstr>
      <vt:lpstr>Таблица соответствий энтропий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Технология реверс-инжиниринга Задание 1. Сравнение энтропии неупакованного и упакованного файлов</dc:title>
  <dc:creator>Вячеслав Луканкин</dc:creator>
  <cp:lastModifiedBy>Kirill</cp:lastModifiedBy>
  <cp:revision>19</cp:revision>
  <dcterms:created xsi:type="dcterms:W3CDTF">2026-02-12T07:50:40Z</dcterms:created>
  <dcterms:modified xsi:type="dcterms:W3CDTF">2026-02-26T07:47:23Z</dcterms:modified>
</cp:coreProperties>
</file>